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4630400" cy="8229600"/>
  <p:notesSz cx="8229600" cy="146304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sv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svg"/><Relationship Id="rId10" Type="http://schemas.openxmlformats.org/officeDocument/2006/relationships/slideLayout" Target="../slideLayouts/slideLayout8.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0.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534716"/>
            <a:ext cx="7556421" cy="4253032"/>
          </a:xfrm>
          <a:prstGeom prst="rect">
            <a:avLst/>
          </a:prstGeom>
          <a:noFill/>
          <a:ln/>
        </p:spPr>
        <p:txBody>
          <a:bodyPr wrap="square" lIns="0" tIns="0" rIns="0" bIns="0" rtlCol="0" anchor="t"/>
          <a:lstStyle/>
          <a:p>
            <a:pPr algn="l" indent="0" marL="0">
              <a:lnSpc>
                <a:spcPts val="11150"/>
              </a:lnSpc>
              <a:buNone/>
            </a:pPr>
            <a:r>
              <a:rPr lang="en-US" sz="8900" b="1" dirty="0">
                <a:solidFill>
                  <a:srgbClr val="000000"/>
                </a:solidFill>
                <a:latin typeface="Inter Bold" pitchFamily="34" charset="0"/>
                <a:ea typeface="Inter Bold" pitchFamily="34" charset="-122"/>
                <a:cs typeface="Inter Bold" pitchFamily="34" charset="-120"/>
              </a:rPr>
              <a:t>Hayotda O'z Istaklarimizni Anglash</a:t>
            </a:r>
            <a:endParaRPr lang="en-US" sz="8900" dirty="0"/>
          </a:p>
        </p:txBody>
      </p:sp>
      <p:sp>
        <p:nvSpPr>
          <p:cNvPr id="4" name="Text 1"/>
          <p:cNvSpPr/>
          <p:nvPr/>
        </p:nvSpPr>
        <p:spPr>
          <a:xfrm>
            <a:off x="6280190" y="6127909"/>
            <a:ext cx="4536519" cy="566976"/>
          </a:xfrm>
          <a:prstGeom prst="rect">
            <a:avLst/>
          </a:prstGeom>
          <a:noFill/>
          <a:ln/>
        </p:spPr>
        <p:txBody>
          <a:bodyPr wrap="none" lIns="0" tIns="0" rIns="0" bIns="0" rtlCol="0" anchor="t"/>
          <a:lstStyle/>
          <a:p>
            <a:pPr algn="l" indent="0" marL="0">
              <a:lnSpc>
                <a:spcPts val="4450"/>
              </a:lnSpc>
              <a:buNone/>
            </a:pPr>
            <a:r>
              <a:rPr lang="en-US" sz="3550" b="1" dirty="0">
                <a:solidFill>
                  <a:srgbClr val="000000"/>
                </a:solidFill>
                <a:latin typeface="Inter Bold" pitchFamily="34" charset="0"/>
                <a:ea typeface="Inter Bold" pitchFamily="34" charset="-122"/>
                <a:cs typeface="Inter Bold" pitchFamily="34" charset="-120"/>
              </a:rPr>
              <a:t>Ichki Yo'lni Topish</a:t>
            </a:r>
            <a:endParaRPr lang="en-US" sz="3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974294"/>
            <a:ext cx="7556421" cy="2126337"/>
          </a:xfrm>
          <a:prstGeom prst="rect">
            <a:avLst/>
          </a:prstGeom>
          <a:noFill/>
          <a:ln/>
        </p:spPr>
        <p:txBody>
          <a:bodyPr wrap="square" lIns="0" tIns="0" rIns="0" bIns="0" rtlCol="0" anchor="t"/>
          <a:lstStyle/>
          <a:p>
            <a:pPr algn="l"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Nima uchun o'z istaklarimizni anglash muhim?</a:t>
            </a:r>
            <a:endParaRPr lang="en-US" sz="4450" dirty="0"/>
          </a:p>
        </p:txBody>
      </p:sp>
      <p:sp>
        <p:nvSpPr>
          <p:cNvPr id="4" name="Text 1"/>
          <p:cNvSpPr/>
          <p:nvPr/>
        </p:nvSpPr>
        <p:spPr>
          <a:xfrm>
            <a:off x="793790" y="4440793"/>
            <a:ext cx="7556421" cy="1814513"/>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Istaklar hayotimiz yo'nalishini belgilaydi. To'g'ri anglash baxt va muvaffaqiyatning asl kaliti. Haqiqiy istaklarimizni tushunmasdan, biz tashqi kuchlar tarbiyasida qolib kelamiz. O'z qalbimizning sadosini eshitish orqali, biz chinakam ma'noli va quvonchli hayot yasashimiz mumkin.</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835235"/>
          </a:xfrm>
          <a:prstGeom prst="rect">
            <a:avLst/>
          </a:prstGeom>
        </p:spPr>
      </p:pic>
      <p:sp>
        <p:nvSpPr>
          <p:cNvPr id="3" name="Text 0"/>
          <p:cNvSpPr/>
          <p:nvPr/>
        </p:nvSpPr>
        <p:spPr>
          <a:xfrm>
            <a:off x="793790" y="3779639"/>
            <a:ext cx="9005530" cy="708779"/>
          </a:xfrm>
          <a:prstGeom prst="rect">
            <a:avLst/>
          </a:prstGeom>
          <a:noFill/>
          <a:ln/>
        </p:spPr>
        <p:txBody>
          <a:bodyPr wrap="none" lIns="0" tIns="0" rIns="0" bIns="0" rtlCol="0" anchor="t"/>
          <a:lstStyle/>
          <a:p>
            <a:pPr algn="l"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Ichki ovozingizni tinglash san'ati</a:t>
            </a:r>
            <a:endParaRPr lang="en-US" sz="4450" dirty="0"/>
          </a:p>
        </p:txBody>
      </p:sp>
      <p:sp>
        <p:nvSpPr>
          <p:cNvPr id="4" name="Shape 1"/>
          <p:cNvSpPr/>
          <p:nvPr/>
        </p:nvSpPr>
        <p:spPr>
          <a:xfrm>
            <a:off x="793790" y="4828580"/>
            <a:ext cx="4196358" cy="2456617"/>
          </a:xfrm>
          <a:prstGeom prst="roundRect">
            <a:avLst>
              <a:gd name="adj" fmla="val 5956"/>
            </a:avLst>
          </a:prstGeom>
          <a:solidFill>
            <a:srgbClr val="FFFFFF"/>
          </a:solidFill>
          <a:ln w="30480">
            <a:solidFill>
              <a:srgbClr val="C0C1D7"/>
            </a:solidFill>
            <a:prstDash val="solid"/>
          </a:ln>
        </p:spPr>
      </p:sp>
      <p:sp>
        <p:nvSpPr>
          <p:cNvPr id="5" name="Shape 2"/>
          <p:cNvSpPr/>
          <p:nvPr/>
        </p:nvSpPr>
        <p:spPr>
          <a:xfrm>
            <a:off x="763310" y="4828580"/>
            <a:ext cx="121920" cy="2456617"/>
          </a:xfrm>
          <a:prstGeom prst="roundRect">
            <a:avLst>
              <a:gd name="adj" fmla="val 78139"/>
            </a:avLst>
          </a:prstGeom>
          <a:solidFill>
            <a:srgbClr val="4950BC"/>
          </a:solidFill>
          <a:ln/>
        </p:spPr>
      </p:sp>
      <p:sp>
        <p:nvSpPr>
          <p:cNvPr id="6" name="Text 3"/>
          <p:cNvSpPr/>
          <p:nvPr/>
        </p:nvSpPr>
        <p:spPr>
          <a:xfrm>
            <a:off x="1142524" y="5085874"/>
            <a:ext cx="3408045" cy="354330"/>
          </a:xfrm>
          <a:prstGeom prst="rect">
            <a:avLst/>
          </a:prstGeom>
          <a:noFill/>
          <a:ln/>
        </p:spPr>
        <p:txBody>
          <a:bodyPr wrap="non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Shovqindan uzoqlashing</a:t>
            </a:r>
            <a:endParaRPr lang="en-US" sz="2200" dirty="0"/>
          </a:p>
        </p:txBody>
      </p:sp>
      <p:sp>
        <p:nvSpPr>
          <p:cNvPr id="7" name="Text 4"/>
          <p:cNvSpPr/>
          <p:nvPr/>
        </p:nvSpPr>
        <p:spPr>
          <a:xfrm>
            <a:off x="1142524" y="5576292"/>
            <a:ext cx="3590330" cy="1088708"/>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Kundalik shovqindan uzoqlashib, tinch muhitda o'z fikrlaringizni eshiting.</a:t>
            </a:r>
            <a:endParaRPr lang="en-US" sz="1750" dirty="0"/>
          </a:p>
        </p:txBody>
      </p:sp>
      <p:sp>
        <p:nvSpPr>
          <p:cNvPr id="8" name="Shape 5"/>
          <p:cNvSpPr/>
          <p:nvPr/>
        </p:nvSpPr>
        <p:spPr>
          <a:xfrm>
            <a:off x="5216962" y="4828580"/>
            <a:ext cx="4196358" cy="2456617"/>
          </a:xfrm>
          <a:prstGeom prst="roundRect">
            <a:avLst>
              <a:gd name="adj" fmla="val 5956"/>
            </a:avLst>
          </a:prstGeom>
          <a:solidFill>
            <a:srgbClr val="FFFFFF"/>
          </a:solidFill>
          <a:ln w="30480">
            <a:solidFill>
              <a:srgbClr val="C0C1D7"/>
            </a:solidFill>
            <a:prstDash val="solid"/>
          </a:ln>
        </p:spPr>
      </p:sp>
      <p:sp>
        <p:nvSpPr>
          <p:cNvPr id="9" name="Shape 6"/>
          <p:cNvSpPr/>
          <p:nvPr/>
        </p:nvSpPr>
        <p:spPr>
          <a:xfrm>
            <a:off x="5186482" y="4828580"/>
            <a:ext cx="121920" cy="2456617"/>
          </a:xfrm>
          <a:prstGeom prst="roundRect">
            <a:avLst>
              <a:gd name="adj" fmla="val 78139"/>
            </a:avLst>
          </a:prstGeom>
          <a:solidFill>
            <a:srgbClr val="4950BC"/>
          </a:solidFill>
          <a:ln/>
        </p:spPr>
      </p:sp>
      <p:sp>
        <p:nvSpPr>
          <p:cNvPr id="10" name="Text 7"/>
          <p:cNvSpPr/>
          <p:nvPr/>
        </p:nvSpPr>
        <p:spPr>
          <a:xfrm>
            <a:off x="5565696" y="5085874"/>
            <a:ext cx="3409355" cy="354330"/>
          </a:xfrm>
          <a:prstGeom prst="rect">
            <a:avLst/>
          </a:prstGeom>
          <a:noFill/>
          <a:ln/>
        </p:spPr>
        <p:txBody>
          <a:bodyPr wrap="non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Qalbingizga quloq soling</a:t>
            </a:r>
            <a:endParaRPr lang="en-US" sz="2200" dirty="0"/>
          </a:p>
        </p:txBody>
      </p:sp>
      <p:sp>
        <p:nvSpPr>
          <p:cNvPr id="11" name="Text 8"/>
          <p:cNvSpPr/>
          <p:nvPr/>
        </p:nvSpPr>
        <p:spPr>
          <a:xfrm>
            <a:off x="5565696" y="5576292"/>
            <a:ext cx="3590330" cy="1451610"/>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Ichki ohangga e'tibor bering. Imom G'azzoliy aytganidek, qalb oynasini sayqallash orqali haqiqiy istaklarni ko'rish mumkin.</a:t>
            </a:r>
            <a:endParaRPr lang="en-US" sz="1750" dirty="0"/>
          </a:p>
        </p:txBody>
      </p:sp>
      <p:sp>
        <p:nvSpPr>
          <p:cNvPr id="12" name="Shape 9"/>
          <p:cNvSpPr/>
          <p:nvPr/>
        </p:nvSpPr>
        <p:spPr>
          <a:xfrm>
            <a:off x="9640133" y="4828580"/>
            <a:ext cx="4196358" cy="2456617"/>
          </a:xfrm>
          <a:prstGeom prst="roundRect">
            <a:avLst>
              <a:gd name="adj" fmla="val 5956"/>
            </a:avLst>
          </a:prstGeom>
          <a:solidFill>
            <a:srgbClr val="FFFFFF"/>
          </a:solidFill>
          <a:ln w="30480">
            <a:solidFill>
              <a:srgbClr val="C0C1D7"/>
            </a:solidFill>
            <a:prstDash val="solid"/>
          </a:ln>
        </p:spPr>
      </p:sp>
      <p:sp>
        <p:nvSpPr>
          <p:cNvPr id="13" name="Shape 10"/>
          <p:cNvSpPr/>
          <p:nvPr/>
        </p:nvSpPr>
        <p:spPr>
          <a:xfrm>
            <a:off x="9609653" y="4828580"/>
            <a:ext cx="121920" cy="2456617"/>
          </a:xfrm>
          <a:prstGeom prst="roundRect">
            <a:avLst>
              <a:gd name="adj" fmla="val 78139"/>
            </a:avLst>
          </a:prstGeom>
          <a:solidFill>
            <a:srgbClr val="4950BC"/>
          </a:solidFill>
          <a:ln/>
        </p:spPr>
      </p:sp>
      <p:sp>
        <p:nvSpPr>
          <p:cNvPr id="14" name="Text 11"/>
          <p:cNvSpPr/>
          <p:nvPr/>
        </p:nvSpPr>
        <p:spPr>
          <a:xfrm>
            <a:off x="9988868" y="5085874"/>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Sabarli tushunish</a:t>
            </a:r>
            <a:endParaRPr lang="en-US" sz="2200" dirty="0"/>
          </a:p>
        </p:txBody>
      </p:sp>
      <p:sp>
        <p:nvSpPr>
          <p:cNvPr id="15" name="Text 12"/>
          <p:cNvSpPr/>
          <p:nvPr/>
        </p:nvSpPr>
        <p:spPr>
          <a:xfrm>
            <a:off x="9988868" y="5576292"/>
            <a:ext cx="3590330" cy="1451610"/>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Xuddi kuchli suv tomiga qarab tosh uranganladi. O'z istaklarni anglashtirish vaqt talabi qiladigan jarayon.</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523053"/>
            <a:ext cx="6281618" cy="708779"/>
          </a:xfrm>
          <a:prstGeom prst="rect">
            <a:avLst/>
          </a:prstGeom>
          <a:noFill/>
          <a:ln/>
        </p:spPr>
        <p:txBody>
          <a:bodyPr wrap="none" lIns="0" tIns="0" rIns="0" bIns="0" rtlCol="0" anchor="t"/>
          <a:lstStyle/>
          <a:p>
            <a:pPr algn="l"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Istak va ehtiyojlar farqi</a:t>
            </a:r>
            <a:endParaRPr lang="en-US" sz="4450" dirty="0"/>
          </a:p>
        </p:txBody>
      </p:sp>
      <p:sp>
        <p:nvSpPr>
          <p:cNvPr id="4" name="Text 1"/>
          <p:cNvSpPr/>
          <p:nvPr/>
        </p:nvSpPr>
        <p:spPr>
          <a:xfrm>
            <a:off x="793790" y="3798808"/>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Tashqi ta'sirlar</a:t>
            </a:r>
            <a:endParaRPr lang="en-US" sz="2200" dirty="0"/>
          </a:p>
        </p:txBody>
      </p:sp>
      <p:sp>
        <p:nvSpPr>
          <p:cNvPr id="5" name="Text 2"/>
          <p:cNvSpPr/>
          <p:nvPr/>
        </p:nvSpPr>
        <p:spPr>
          <a:xfrm>
            <a:off x="793790" y="4379952"/>
            <a:ext cx="3501509"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72525"/>
                </a:solidFill>
                <a:latin typeface="Inter" pitchFamily="34" charset="0"/>
                <a:ea typeface="Inter" pitchFamily="34" charset="-122"/>
                <a:cs typeface="Inter" pitchFamily="34" charset="-120"/>
              </a:rPr>
              <a:t>Ong-oynajon</a:t>
            </a:r>
            <a:endParaRPr lang="en-US" sz="1750" dirty="0"/>
          </a:p>
        </p:txBody>
      </p:sp>
      <p:sp>
        <p:nvSpPr>
          <p:cNvPr id="6" name="Text 3"/>
          <p:cNvSpPr/>
          <p:nvPr/>
        </p:nvSpPr>
        <p:spPr>
          <a:xfrm>
            <a:off x="793790" y="4822150"/>
            <a:ext cx="3501509"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72525"/>
                </a:solidFill>
                <a:latin typeface="Inter" pitchFamily="34" charset="0"/>
                <a:ea typeface="Inter" pitchFamily="34" charset="-122"/>
                <a:cs typeface="Inter" pitchFamily="34" charset="-120"/>
              </a:rPr>
              <a:t>Ijtimoiy bosim</a:t>
            </a:r>
            <a:endParaRPr lang="en-US" sz="1750" dirty="0"/>
          </a:p>
        </p:txBody>
      </p:sp>
      <p:sp>
        <p:nvSpPr>
          <p:cNvPr id="7" name="Text 4"/>
          <p:cNvSpPr/>
          <p:nvPr/>
        </p:nvSpPr>
        <p:spPr>
          <a:xfrm>
            <a:off x="793790" y="5264348"/>
            <a:ext cx="3501509"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72525"/>
                </a:solidFill>
                <a:latin typeface="Inter" pitchFamily="34" charset="0"/>
                <a:ea typeface="Inter" pitchFamily="34" charset="-122"/>
                <a:cs typeface="Inter" pitchFamily="34" charset="-120"/>
              </a:rPr>
              <a:t>Boshqalarning kutishlari</a:t>
            </a:r>
            <a:endParaRPr lang="en-US" sz="1750" dirty="0"/>
          </a:p>
        </p:txBody>
      </p:sp>
      <p:sp>
        <p:nvSpPr>
          <p:cNvPr id="8" name="Text 5"/>
          <p:cNvSpPr/>
          <p:nvPr/>
        </p:nvSpPr>
        <p:spPr>
          <a:xfrm>
            <a:off x="4856321" y="3798808"/>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Haqiqiy istaklarimiz</a:t>
            </a:r>
            <a:endParaRPr lang="en-US" sz="2200" dirty="0"/>
          </a:p>
        </p:txBody>
      </p:sp>
      <p:sp>
        <p:nvSpPr>
          <p:cNvPr id="9" name="Text 6"/>
          <p:cNvSpPr/>
          <p:nvPr/>
        </p:nvSpPr>
        <p:spPr>
          <a:xfrm>
            <a:off x="4856321" y="4379952"/>
            <a:ext cx="3501509"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72525"/>
                </a:solidFill>
                <a:latin typeface="Inter" pitchFamily="34" charset="0"/>
                <a:ea typeface="Inter" pitchFamily="34" charset="-122"/>
                <a:cs typeface="Inter" pitchFamily="34" charset="-120"/>
              </a:rPr>
              <a:t>Qalbdan keladigan sadolar</a:t>
            </a:r>
            <a:endParaRPr lang="en-US" sz="1750" dirty="0"/>
          </a:p>
        </p:txBody>
      </p:sp>
      <p:sp>
        <p:nvSpPr>
          <p:cNvPr id="10" name="Text 7"/>
          <p:cNvSpPr/>
          <p:nvPr/>
        </p:nvSpPr>
        <p:spPr>
          <a:xfrm>
            <a:off x="4856321" y="4822150"/>
            <a:ext cx="3501509"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72525"/>
                </a:solidFill>
                <a:latin typeface="Inter" pitchFamily="34" charset="0"/>
                <a:ea typeface="Inter" pitchFamily="34" charset="-122"/>
                <a:cs typeface="Inter" pitchFamily="34" charset="-120"/>
              </a:rPr>
              <a:t>Tinchlik va quvonch manbai</a:t>
            </a:r>
            <a:endParaRPr lang="en-US" sz="1750" dirty="0"/>
          </a:p>
        </p:txBody>
      </p:sp>
      <p:sp>
        <p:nvSpPr>
          <p:cNvPr id="11" name="Text 8"/>
          <p:cNvSpPr/>
          <p:nvPr/>
        </p:nvSpPr>
        <p:spPr>
          <a:xfrm>
            <a:off x="4856321" y="5264348"/>
            <a:ext cx="3501509"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72525"/>
                </a:solidFill>
                <a:latin typeface="Inter" pitchFamily="34" charset="0"/>
                <a:ea typeface="Inter" pitchFamily="34" charset="-122"/>
                <a:cs typeface="Inter" pitchFamily="34" charset="-120"/>
              </a:rPr>
              <a:t>Shaxsiy ma'no va maqsad</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841177"/>
            <a:ext cx="7556421" cy="1417558"/>
          </a:xfrm>
          <a:prstGeom prst="rect">
            <a:avLst/>
          </a:prstGeom>
          <a:noFill/>
          <a:ln/>
        </p:spPr>
        <p:txBody>
          <a:bodyPr wrap="square" lIns="0" tIns="0" rIns="0" bIns="0" rtlCol="0" anchor="t"/>
          <a:lstStyle/>
          <a:p>
            <a:pPr algn="l"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O'z istaklaringizni aniqlash uchun amaliy qadamlar</a:t>
            </a:r>
            <a:endParaRPr lang="en-US" sz="4450" dirty="0"/>
          </a:p>
        </p:txBody>
      </p:sp>
      <p:sp>
        <p:nvSpPr>
          <p:cNvPr id="4" name="Shape 1"/>
          <p:cNvSpPr/>
          <p:nvPr/>
        </p:nvSpPr>
        <p:spPr>
          <a:xfrm>
            <a:off x="6280190" y="2598896"/>
            <a:ext cx="510302" cy="510302"/>
          </a:xfrm>
          <a:prstGeom prst="roundRect">
            <a:avLst>
              <a:gd name="adj" fmla="val 18669"/>
            </a:avLst>
          </a:prstGeom>
          <a:solidFill>
            <a:srgbClr val="DADBF1"/>
          </a:solidFill>
          <a:ln w="7620">
            <a:solidFill>
              <a:srgbClr val="C0C1D7"/>
            </a:solidFill>
            <a:prstDash val="solid"/>
          </a:ln>
        </p:spPr>
      </p:sp>
      <p:sp>
        <p:nvSpPr>
          <p:cNvPr id="5" name="Text 2"/>
          <p:cNvSpPr/>
          <p:nvPr/>
        </p:nvSpPr>
        <p:spPr>
          <a:xfrm>
            <a:off x="6365260" y="2641402"/>
            <a:ext cx="340162" cy="425291"/>
          </a:xfrm>
          <a:prstGeom prst="rect">
            <a:avLst/>
          </a:prstGeom>
          <a:noFill/>
          <a:ln/>
        </p:spPr>
        <p:txBody>
          <a:bodyPr wrap="none" lIns="0" tIns="0" rIns="0" bIns="0" rtlCol="0" anchor="t"/>
          <a:lstStyle/>
          <a:p>
            <a:pPr algn="ctr" indent="0" marL="0">
              <a:lnSpc>
                <a:spcPts val="2650"/>
              </a:lnSpc>
              <a:buNone/>
            </a:pPr>
            <a:r>
              <a:rPr lang="en-US" sz="2650" b="1" dirty="0">
                <a:solidFill>
                  <a:srgbClr val="272525"/>
                </a:solidFill>
                <a:latin typeface="Inter Bold" pitchFamily="34" charset="0"/>
                <a:ea typeface="Inter Bold" pitchFamily="34" charset="-122"/>
                <a:cs typeface="Inter Bold" pitchFamily="34" charset="-120"/>
              </a:rPr>
              <a:t>1</a:t>
            </a:r>
            <a:endParaRPr lang="en-US" sz="2650" dirty="0"/>
          </a:p>
        </p:txBody>
      </p:sp>
      <p:sp>
        <p:nvSpPr>
          <p:cNvPr id="6" name="Text 3"/>
          <p:cNvSpPr/>
          <p:nvPr/>
        </p:nvSpPr>
        <p:spPr>
          <a:xfrm>
            <a:off x="7017306" y="2676763"/>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Kundalik yozuvlar</a:t>
            </a:r>
            <a:endParaRPr lang="en-US" sz="2200" dirty="0"/>
          </a:p>
        </p:txBody>
      </p:sp>
      <p:sp>
        <p:nvSpPr>
          <p:cNvPr id="7" name="Text 4"/>
          <p:cNvSpPr/>
          <p:nvPr/>
        </p:nvSpPr>
        <p:spPr>
          <a:xfrm>
            <a:off x="7017306" y="3167182"/>
            <a:ext cx="6819305" cy="725805"/>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Har kuni fikr va his-tuyg'ularingizni qo'g'oz sahifasiga tushiring. Bu o'z istaklaringizni aniqlashning kuchli usuli.</a:t>
            </a:r>
            <a:endParaRPr lang="en-US" sz="1750" dirty="0"/>
          </a:p>
        </p:txBody>
      </p:sp>
      <p:sp>
        <p:nvSpPr>
          <p:cNvPr id="8" name="Shape 5"/>
          <p:cNvSpPr/>
          <p:nvPr/>
        </p:nvSpPr>
        <p:spPr>
          <a:xfrm>
            <a:off x="6280190" y="4346615"/>
            <a:ext cx="510302" cy="510302"/>
          </a:xfrm>
          <a:prstGeom prst="roundRect">
            <a:avLst>
              <a:gd name="adj" fmla="val 18669"/>
            </a:avLst>
          </a:prstGeom>
          <a:solidFill>
            <a:srgbClr val="DADBF1"/>
          </a:solidFill>
          <a:ln w="7620">
            <a:solidFill>
              <a:srgbClr val="C0C1D7"/>
            </a:solidFill>
            <a:prstDash val="solid"/>
          </a:ln>
        </p:spPr>
      </p:sp>
      <p:sp>
        <p:nvSpPr>
          <p:cNvPr id="9" name="Text 6"/>
          <p:cNvSpPr/>
          <p:nvPr/>
        </p:nvSpPr>
        <p:spPr>
          <a:xfrm>
            <a:off x="6365260" y="4389120"/>
            <a:ext cx="340162" cy="425291"/>
          </a:xfrm>
          <a:prstGeom prst="rect">
            <a:avLst/>
          </a:prstGeom>
          <a:noFill/>
          <a:ln/>
        </p:spPr>
        <p:txBody>
          <a:bodyPr wrap="none" lIns="0" tIns="0" rIns="0" bIns="0" rtlCol="0" anchor="t"/>
          <a:lstStyle/>
          <a:p>
            <a:pPr algn="ctr" indent="0" marL="0">
              <a:lnSpc>
                <a:spcPts val="2650"/>
              </a:lnSpc>
              <a:buNone/>
            </a:pPr>
            <a:r>
              <a:rPr lang="en-US" sz="2650" b="1" dirty="0">
                <a:solidFill>
                  <a:srgbClr val="272525"/>
                </a:solidFill>
                <a:latin typeface="Inter Bold" pitchFamily="34" charset="0"/>
                <a:ea typeface="Inter Bold" pitchFamily="34" charset="-122"/>
                <a:cs typeface="Inter Bold" pitchFamily="34" charset="-120"/>
              </a:rPr>
              <a:t>2</a:t>
            </a:r>
            <a:endParaRPr lang="en-US" sz="2650" dirty="0"/>
          </a:p>
        </p:txBody>
      </p:sp>
      <p:sp>
        <p:nvSpPr>
          <p:cNvPr id="10" name="Text 7"/>
          <p:cNvSpPr/>
          <p:nvPr/>
        </p:nvSpPr>
        <p:spPr>
          <a:xfrm>
            <a:off x="7017306" y="4424482"/>
            <a:ext cx="3874294" cy="354330"/>
          </a:xfrm>
          <a:prstGeom prst="rect">
            <a:avLst/>
          </a:prstGeom>
          <a:noFill/>
          <a:ln/>
        </p:spPr>
        <p:txBody>
          <a:bodyPr wrap="non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Meditatsiya va murakkamlik</a:t>
            </a:r>
            <a:endParaRPr lang="en-US" sz="2200" dirty="0"/>
          </a:p>
        </p:txBody>
      </p:sp>
      <p:sp>
        <p:nvSpPr>
          <p:cNvPr id="11" name="Text 8"/>
          <p:cNvSpPr/>
          <p:nvPr/>
        </p:nvSpPr>
        <p:spPr>
          <a:xfrm>
            <a:off x="7017306" y="4914900"/>
            <a:ext cx="6819305" cy="725805"/>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O'z-o'ziga savol bering: "Men haqiqatan nima xohlayman?" Javob kutib o'turing, uni qalbingizdan eshiting.</a:t>
            </a:r>
            <a:endParaRPr lang="en-US" sz="1750" dirty="0"/>
          </a:p>
        </p:txBody>
      </p:sp>
      <p:sp>
        <p:nvSpPr>
          <p:cNvPr id="12" name="Shape 9"/>
          <p:cNvSpPr/>
          <p:nvPr/>
        </p:nvSpPr>
        <p:spPr>
          <a:xfrm>
            <a:off x="6280190" y="6094333"/>
            <a:ext cx="510302" cy="510302"/>
          </a:xfrm>
          <a:prstGeom prst="roundRect">
            <a:avLst>
              <a:gd name="adj" fmla="val 18669"/>
            </a:avLst>
          </a:prstGeom>
          <a:solidFill>
            <a:srgbClr val="DADBF1"/>
          </a:solidFill>
          <a:ln w="7620">
            <a:solidFill>
              <a:srgbClr val="C0C1D7"/>
            </a:solidFill>
            <a:prstDash val="solid"/>
          </a:ln>
        </p:spPr>
      </p:sp>
      <p:sp>
        <p:nvSpPr>
          <p:cNvPr id="13" name="Text 10"/>
          <p:cNvSpPr/>
          <p:nvPr/>
        </p:nvSpPr>
        <p:spPr>
          <a:xfrm>
            <a:off x="6365260" y="6136838"/>
            <a:ext cx="340162" cy="425291"/>
          </a:xfrm>
          <a:prstGeom prst="rect">
            <a:avLst/>
          </a:prstGeom>
          <a:noFill/>
          <a:ln/>
        </p:spPr>
        <p:txBody>
          <a:bodyPr wrap="none" lIns="0" tIns="0" rIns="0" bIns="0" rtlCol="0" anchor="t"/>
          <a:lstStyle/>
          <a:p>
            <a:pPr algn="ctr" indent="0" marL="0">
              <a:lnSpc>
                <a:spcPts val="2650"/>
              </a:lnSpc>
              <a:buNone/>
            </a:pPr>
            <a:r>
              <a:rPr lang="en-US" sz="2650" b="1" dirty="0">
                <a:solidFill>
                  <a:srgbClr val="272525"/>
                </a:solidFill>
                <a:latin typeface="Inter Bold" pitchFamily="34" charset="0"/>
                <a:ea typeface="Inter Bold" pitchFamily="34" charset="-122"/>
                <a:cs typeface="Inter Bold" pitchFamily="34" charset="-120"/>
              </a:rPr>
              <a:t>3</a:t>
            </a:r>
            <a:endParaRPr lang="en-US" sz="2650" dirty="0"/>
          </a:p>
        </p:txBody>
      </p:sp>
      <p:sp>
        <p:nvSpPr>
          <p:cNvPr id="14" name="Text 11"/>
          <p:cNvSpPr/>
          <p:nvPr/>
        </p:nvSpPr>
        <p:spPr>
          <a:xfrm>
            <a:off x="7017306" y="6172200"/>
            <a:ext cx="3463409" cy="354330"/>
          </a:xfrm>
          <a:prstGeom prst="rect">
            <a:avLst/>
          </a:prstGeom>
          <a:noFill/>
          <a:ln/>
        </p:spPr>
        <p:txBody>
          <a:bodyPr wrap="non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Tajriba asosida o'rganish</a:t>
            </a:r>
            <a:endParaRPr lang="en-US" sz="2200" dirty="0"/>
          </a:p>
        </p:txBody>
      </p:sp>
      <p:sp>
        <p:nvSpPr>
          <p:cNvPr id="15" name="Text 12"/>
          <p:cNvSpPr/>
          <p:nvPr/>
        </p:nvSpPr>
        <p:spPr>
          <a:xfrm>
            <a:off x="7017306" y="6662618"/>
            <a:ext cx="6819305" cy="725805"/>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Kichik qadamlar orqali turli yo'llarni sinab ko'ring va o'z hislatingizga e'tibor bering.</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2328624"/>
            <a:ext cx="7556421" cy="1417558"/>
          </a:xfrm>
          <a:prstGeom prst="rect">
            <a:avLst/>
          </a:prstGeom>
          <a:noFill/>
          <a:ln/>
        </p:spPr>
        <p:txBody>
          <a:bodyPr wrap="square" lIns="0" tIns="0" rIns="0" bIns="0" rtlCol="0" anchor="t"/>
          <a:lstStyle/>
          <a:p>
            <a:pPr algn="l"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Qiyinchiliklar va ichki qarama-qarshiliklar</a:t>
            </a:r>
            <a:endParaRPr lang="en-US" sz="4450" dirty="0"/>
          </a:p>
        </p:txBody>
      </p:sp>
      <p:sp>
        <p:nvSpPr>
          <p:cNvPr id="4" name="Text 1"/>
          <p:cNvSpPr/>
          <p:nvPr/>
        </p:nvSpPr>
        <p:spPr>
          <a:xfrm>
            <a:off x="6280190" y="4086344"/>
            <a:ext cx="7556421" cy="1814513"/>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Nafs va tashqi bosimlar ko'pincha istaklarni chalkashtiradi. Mening xohish-istaklarim to'g'rimi? Bu savol ko'p kishilarni qoyan turadi. Sabrlilik, o'z-o'zini anglash va taobhasheng jarayoni bu masalalardan o'chib yiqilish uchun zarur. Shubhalar paydo bo'lsa ham, ularga qo'rquqsiz duch kelishingiz kerak.</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251109"/>
            <a:ext cx="11522512" cy="708779"/>
          </a:xfrm>
          <a:prstGeom prst="rect">
            <a:avLst/>
          </a:prstGeom>
          <a:noFill/>
          <a:ln/>
        </p:spPr>
        <p:txBody>
          <a:bodyPr wrap="none" lIns="0" tIns="0" rIns="0" bIns="0" rtlCol="0" anchor="t"/>
          <a:lstStyle/>
          <a:p>
            <a:pPr algn="l"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O'z istaklaringizga sodiq qolishning kuchi</a:t>
            </a:r>
            <a:endParaRPr lang="en-US" sz="4450" dirty="0"/>
          </a:p>
        </p:txBody>
      </p:sp>
      <p:sp>
        <p:nvSpPr>
          <p:cNvPr id="3" name="Text 1"/>
          <p:cNvSpPr/>
          <p:nvPr/>
        </p:nvSpPr>
        <p:spPr>
          <a:xfrm>
            <a:off x="1743789" y="4087892"/>
            <a:ext cx="2835235" cy="354330"/>
          </a:xfrm>
          <a:prstGeom prst="rect">
            <a:avLst/>
          </a:prstGeom>
          <a:noFill/>
          <a:ln/>
        </p:spPr>
        <p:txBody>
          <a:bodyPr wrap="none" lIns="0" tIns="0" rIns="0" bIns="0" rtlCol="0" anchor="t"/>
          <a:lstStyle/>
          <a:p>
            <a:pPr algn="r"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Aniq maqsad</a:t>
            </a:r>
            <a:endParaRPr lang="en-US" sz="2200" dirty="0"/>
          </a:p>
        </p:txBody>
      </p:sp>
      <p:sp>
        <p:nvSpPr>
          <p:cNvPr id="4" name="Text 2"/>
          <p:cNvSpPr/>
          <p:nvPr/>
        </p:nvSpPr>
        <p:spPr>
          <a:xfrm>
            <a:off x="793790" y="4578310"/>
            <a:ext cx="3785235" cy="725805"/>
          </a:xfrm>
          <a:prstGeom prst="rect">
            <a:avLst/>
          </a:prstGeom>
          <a:noFill/>
          <a:ln/>
        </p:spPr>
        <p:txBody>
          <a:bodyPr wrap="square" lIns="0" tIns="0" rIns="0" bIns="0" rtlCol="0" anchor="t"/>
          <a:lstStyle/>
          <a:p>
            <a:pPr algn="r" indent="0" marL="0">
              <a:lnSpc>
                <a:spcPts val="2850"/>
              </a:lnSpc>
              <a:buNone/>
            </a:pPr>
            <a:r>
              <a:rPr lang="en-US" sz="1750" dirty="0">
                <a:solidFill>
                  <a:srgbClr val="272525"/>
                </a:solidFill>
                <a:latin typeface="Inter" pitchFamily="34" charset="0"/>
                <a:ea typeface="Inter" pitchFamily="34" charset="-122"/>
                <a:cs typeface="Inter" pitchFamily="34" charset="-120"/>
              </a:rPr>
              <a:t>Istaklaringiz bugungi qarorlarni boshqaradi</a:t>
            </a:r>
            <a:endParaRPr lang="en-US" sz="1750" dirty="0"/>
          </a:p>
        </p:txBody>
      </p:sp>
      <p:pic>
        <p:nvPicPr>
          <p:cNvPr id="5" name="Image 0" descr="preencoded.png">    </p:cNvPr>
          <p:cNvPicPr>
            <a:picLocks noChangeAspect="1"/>
          </p:cNvPicPr>
          <p:nvPr/>
        </p:nvPicPr>
        <p:blipFill>
          <a:blip r:embed="rId1"/>
          <a:stretch>
            <a:fillRect/>
          </a:stretch>
        </p:blipFill>
        <p:spPr>
          <a:xfrm>
            <a:off x="5032653" y="2413516"/>
            <a:ext cx="4564975" cy="4564975"/>
          </a:xfrm>
          <a:prstGeom prst="rect">
            <a:avLst/>
          </a:prstGeom>
        </p:spPr>
      </p:pic>
      <p:pic>
        <p:nvPicPr>
          <p:cNvPr id="6"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47717" y="4526161"/>
            <a:ext cx="339328" cy="339328"/>
          </a:xfrm>
          <a:prstGeom prst="rect">
            <a:avLst/>
          </a:prstGeom>
        </p:spPr>
      </p:pic>
      <p:sp>
        <p:nvSpPr>
          <p:cNvPr id="7" name="Text 3"/>
          <p:cNvSpPr/>
          <p:nvPr/>
        </p:nvSpPr>
        <p:spPr>
          <a:xfrm>
            <a:off x="9937790" y="2861548"/>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Amaliy harakat</a:t>
            </a:r>
            <a:endParaRPr lang="en-US" sz="2200" dirty="0"/>
          </a:p>
        </p:txBody>
      </p:sp>
      <p:sp>
        <p:nvSpPr>
          <p:cNvPr id="8" name="Text 4"/>
          <p:cNvSpPr/>
          <p:nvPr/>
        </p:nvSpPr>
        <p:spPr>
          <a:xfrm>
            <a:off x="9937790" y="3351967"/>
            <a:ext cx="3898821" cy="725805"/>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Har bir qadam istaklarga mos bo'lsa, muvaffaqiyat oshadi</a:t>
            </a:r>
            <a:endParaRPr lang="en-US" sz="1750" dirty="0"/>
          </a:p>
        </p:txBody>
      </p:sp>
      <p:pic>
        <p:nvPicPr>
          <p:cNvPr id="9" name="Image 2" descr="preencoded.png">    </p:cNvPr>
          <p:cNvPicPr>
            <a:picLocks noChangeAspect="1"/>
          </p:cNvPicPr>
          <p:nvPr/>
        </p:nvPicPr>
        <p:blipFill>
          <a:blip r:embed="rId4"/>
          <a:stretch>
            <a:fillRect/>
          </a:stretch>
        </p:blipFill>
        <p:spPr>
          <a:xfrm>
            <a:off x="5032653" y="2413516"/>
            <a:ext cx="4564975" cy="4564975"/>
          </a:xfrm>
          <a:prstGeom prst="rect">
            <a:avLst/>
          </a:prstGeom>
        </p:spPr>
      </p:pic>
      <p:pic>
        <p:nvPicPr>
          <p:cNvPr id="10" name="Image 3"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44326" y="3142536"/>
            <a:ext cx="339328" cy="339328"/>
          </a:xfrm>
          <a:prstGeom prst="rect">
            <a:avLst/>
          </a:prstGeom>
        </p:spPr>
      </p:pic>
      <p:sp>
        <p:nvSpPr>
          <p:cNvPr id="11" name="Text 5"/>
          <p:cNvSpPr/>
          <p:nvPr/>
        </p:nvSpPr>
        <p:spPr>
          <a:xfrm>
            <a:off x="9937790" y="5314117"/>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Ichki o'zgarish</a:t>
            </a:r>
            <a:endParaRPr lang="en-US" sz="2200" dirty="0"/>
          </a:p>
        </p:txBody>
      </p:sp>
      <p:sp>
        <p:nvSpPr>
          <p:cNvPr id="12" name="Text 6"/>
          <p:cNvSpPr/>
          <p:nvPr/>
        </p:nvSpPr>
        <p:spPr>
          <a:xfrm>
            <a:off x="9937790" y="5804535"/>
            <a:ext cx="3898821" cy="725805"/>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Imom G'azzoliy hayoti misol – hayati tadbiq va ichki taraqqiyot borasi</a:t>
            </a:r>
            <a:endParaRPr lang="en-US" sz="1750" dirty="0"/>
          </a:p>
        </p:txBody>
      </p:sp>
      <p:pic>
        <p:nvPicPr>
          <p:cNvPr id="13" name="Image 4" descr="preencoded.png">    </p:cNvPr>
          <p:cNvPicPr>
            <a:picLocks noChangeAspect="1"/>
          </p:cNvPicPr>
          <p:nvPr/>
        </p:nvPicPr>
        <p:blipFill>
          <a:blip r:embed="rId7"/>
          <a:stretch>
            <a:fillRect/>
          </a:stretch>
        </p:blipFill>
        <p:spPr>
          <a:xfrm>
            <a:off x="5032653" y="2413516"/>
            <a:ext cx="4564975" cy="4564975"/>
          </a:xfrm>
          <a:prstGeom prst="rect">
            <a:avLst/>
          </a:prstGeom>
        </p:spPr>
      </p:pic>
      <p:pic>
        <p:nvPicPr>
          <p:cNvPr id="14" name="Image 5"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944326" y="5909786"/>
            <a:ext cx="339328" cy="33932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835235"/>
          </a:xfrm>
          <a:prstGeom prst="rect">
            <a:avLst/>
          </a:prstGeom>
        </p:spPr>
      </p:pic>
      <p:sp>
        <p:nvSpPr>
          <p:cNvPr id="3" name="Text 0"/>
          <p:cNvSpPr/>
          <p:nvPr/>
        </p:nvSpPr>
        <p:spPr>
          <a:xfrm>
            <a:off x="793790" y="3530918"/>
            <a:ext cx="12436197" cy="708779"/>
          </a:xfrm>
          <a:prstGeom prst="rect">
            <a:avLst/>
          </a:prstGeom>
          <a:noFill/>
          <a:ln/>
        </p:spPr>
        <p:txBody>
          <a:bodyPr wrap="none" lIns="0" tIns="0" rIns="0" bIns="0" rtlCol="0" anchor="t"/>
          <a:lstStyle/>
          <a:p>
            <a:pPr algn="l"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Istaklarni amalga oshirish yo'lida motivatsiya</a:t>
            </a:r>
            <a:endParaRPr lang="en-US" sz="4450" dirty="0"/>
          </a:p>
        </p:txBody>
      </p:sp>
      <p:sp>
        <p:nvSpPr>
          <p:cNvPr id="4" name="Shape 1"/>
          <p:cNvSpPr/>
          <p:nvPr/>
        </p:nvSpPr>
        <p:spPr>
          <a:xfrm>
            <a:off x="793790" y="5260300"/>
            <a:ext cx="4196358" cy="226814"/>
          </a:xfrm>
          <a:prstGeom prst="roundRect">
            <a:avLst>
              <a:gd name="adj" fmla="val 42003"/>
            </a:avLst>
          </a:prstGeom>
          <a:solidFill>
            <a:srgbClr val="DADBF1"/>
          </a:solidFill>
          <a:ln w="7620">
            <a:solidFill>
              <a:srgbClr val="C0C1D7"/>
            </a:solidFill>
            <a:prstDash val="solid"/>
          </a:ln>
        </p:spPr>
      </p:sp>
      <p:sp>
        <p:nvSpPr>
          <p:cNvPr id="5" name="Text 2"/>
          <p:cNvSpPr/>
          <p:nvPr/>
        </p:nvSpPr>
        <p:spPr>
          <a:xfrm>
            <a:off x="1020604" y="5713928"/>
            <a:ext cx="3181588" cy="354330"/>
          </a:xfrm>
          <a:prstGeom prst="rect">
            <a:avLst/>
          </a:prstGeom>
          <a:noFill/>
          <a:ln/>
        </p:spPr>
        <p:txBody>
          <a:bodyPr wrap="non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Katta maqsadni bo'ling</a:t>
            </a:r>
            <a:endParaRPr lang="en-US" sz="2200" dirty="0"/>
          </a:p>
        </p:txBody>
      </p:sp>
      <p:sp>
        <p:nvSpPr>
          <p:cNvPr id="6" name="Text 3"/>
          <p:cNvSpPr/>
          <p:nvPr/>
        </p:nvSpPr>
        <p:spPr>
          <a:xfrm>
            <a:off x="1020604" y="6204347"/>
            <a:ext cx="3742730" cy="1088708"/>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Asosiy istaklaringizni kichik, sodi amalga oshiriladigan bosqichlarga ajrating.</a:t>
            </a:r>
            <a:endParaRPr lang="en-US" sz="1750" dirty="0"/>
          </a:p>
        </p:txBody>
      </p:sp>
      <p:sp>
        <p:nvSpPr>
          <p:cNvPr id="7" name="Shape 4"/>
          <p:cNvSpPr/>
          <p:nvPr/>
        </p:nvSpPr>
        <p:spPr>
          <a:xfrm>
            <a:off x="5216962" y="4920020"/>
            <a:ext cx="4196358" cy="226814"/>
          </a:xfrm>
          <a:prstGeom prst="roundRect">
            <a:avLst>
              <a:gd name="adj" fmla="val 42003"/>
            </a:avLst>
          </a:prstGeom>
          <a:solidFill>
            <a:srgbClr val="DADBF1"/>
          </a:solidFill>
          <a:ln w="7620">
            <a:solidFill>
              <a:srgbClr val="C0C1D7"/>
            </a:solidFill>
            <a:prstDash val="solid"/>
          </a:ln>
        </p:spPr>
      </p:sp>
      <p:sp>
        <p:nvSpPr>
          <p:cNvPr id="8" name="Text 5"/>
          <p:cNvSpPr/>
          <p:nvPr/>
        </p:nvSpPr>
        <p:spPr>
          <a:xfrm>
            <a:off x="5443776" y="5373648"/>
            <a:ext cx="3742730" cy="708660"/>
          </a:xfrm>
          <a:prstGeom prst="rect">
            <a:avLst/>
          </a:prstGeom>
          <a:noFill/>
          <a:ln/>
        </p:spPr>
        <p:txBody>
          <a:bodyPr wrap="squar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Kichik yutuqlarni nishonlagni</a:t>
            </a:r>
            <a:endParaRPr lang="en-US" sz="2200" dirty="0"/>
          </a:p>
        </p:txBody>
      </p:sp>
      <p:sp>
        <p:nvSpPr>
          <p:cNvPr id="9" name="Text 6"/>
          <p:cNvSpPr/>
          <p:nvPr/>
        </p:nvSpPr>
        <p:spPr>
          <a:xfrm>
            <a:off x="5443776" y="6218396"/>
            <a:ext cx="3742730" cy="1088708"/>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Har bir kichik o'zgarish qalbni kuchaytiradi va keyingi qadamga push beradi.</a:t>
            </a:r>
            <a:endParaRPr lang="en-US" sz="1750" dirty="0"/>
          </a:p>
        </p:txBody>
      </p:sp>
      <p:sp>
        <p:nvSpPr>
          <p:cNvPr id="10" name="Shape 7"/>
          <p:cNvSpPr/>
          <p:nvPr/>
        </p:nvSpPr>
        <p:spPr>
          <a:xfrm>
            <a:off x="9640133" y="4579858"/>
            <a:ext cx="4196358" cy="226814"/>
          </a:xfrm>
          <a:prstGeom prst="roundRect">
            <a:avLst>
              <a:gd name="adj" fmla="val 42003"/>
            </a:avLst>
          </a:prstGeom>
          <a:solidFill>
            <a:srgbClr val="DADBF1"/>
          </a:solidFill>
          <a:ln w="7620">
            <a:solidFill>
              <a:srgbClr val="C0C1D7"/>
            </a:solidFill>
            <a:prstDash val="solid"/>
          </a:ln>
        </p:spPr>
      </p:sp>
      <p:sp>
        <p:nvSpPr>
          <p:cNvPr id="11" name="Text 8"/>
          <p:cNvSpPr/>
          <p:nvPr/>
        </p:nvSpPr>
        <p:spPr>
          <a:xfrm>
            <a:off x="9866948" y="5033486"/>
            <a:ext cx="3620572" cy="354330"/>
          </a:xfrm>
          <a:prstGeom prst="rect">
            <a:avLst/>
          </a:prstGeom>
          <a:noFill/>
          <a:ln/>
        </p:spPr>
        <p:txBody>
          <a:bodyPr wrap="non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Ruh ko'tarilishini his qiling</a:t>
            </a:r>
            <a:endParaRPr lang="en-US" sz="2200" dirty="0"/>
          </a:p>
        </p:txBody>
      </p:sp>
      <p:sp>
        <p:nvSpPr>
          <p:cNvPr id="12" name="Text 9"/>
          <p:cNvSpPr/>
          <p:nvPr/>
        </p:nvSpPr>
        <p:spPr>
          <a:xfrm>
            <a:off x="9866948" y="5523905"/>
            <a:ext cx="3742730" cy="725805"/>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Har bir bosqich – bu o'z istaklari sari harakat qilishning dalili.</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64143" y="601147"/>
            <a:ext cx="7615714" cy="1364694"/>
          </a:xfrm>
          <a:prstGeom prst="rect">
            <a:avLst/>
          </a:prstGeom>
          <a:noFill/>
          <a:ln/>
        </p:spPr>
        <p:txBody>
          <a:bodyPr wrap="square" lIns="0" tIns="0" rIns="0" bIns="0" rtlCol="0" anchor="t"/>
          <a:lstStyle/>
          <a:p>
            <a:pPr algn="l" indent="0" marL="0">
              <a:lnSpc>
                <a:spcPts val="5350"/>
              </a:lnSpc>
              <a:buNone/>
            </a:pPr>
            <a:r>
              <a:rPr lang="en-US" sz="4250" b="1" dirty="0">
                <a:solidFill>
                  <a:srgbClr val="000000"/>
                </a:solidFill>
                <a:latin typeface="Inter Bold" pitchFamily="34" charset="0"/>
                <a:ea typeface="Inter Bold" pitchFamily="34" charset="-122"/>
                <a:cs typeface="Inter Bold" pitchFamily="34" charset="-120"/>
              </a:rPr>
              <a:t>Hayotingizni o'zgartirish uchun bugun boshlang</a:t>
            </a:r>
            <a:endParaRPr lang="en-US" sz="4250" dirty="0"/>
          </a:p>
        </p:txBody>
      </p:sp>
      <p:sp>
        <p:nvSpPr>
          <p:cNvPr id="4" name="Shape 1"/>
          <p:cNvSpPr/>
          <p:nvPr/>
        </p:nvSpPr>
        <p:spPr>
          <a:xfrm>
            <a:off x="764143" y="2293263"/>
            <a:ext cx="7615714" cy="1626275"/>
          </a:xfrm>
          <a:prstGeom prst="roundRect">
            <a:avLst>
              <a:gd name="adj" fmla="val 5639"/>
            </a:avLst>
          </a:prstGeom>
          <a:solidFill>
            <a:srgbClr val="C7C9EA"/>
          </a:solidFill>
          <a:ln/>
        </p:spPr>
      </p:sp>
      <p:pic>
        <p:nvPicPr>
          <p:cNvPr id="5" name="Image 1" descr="preencoded.png">    </p:cNvPr>
          <p:cNvPicPr>
            <a:picLocks noChangeAspect="1"/>
          </p:cNvPicPr>
          <p:nvPr/>
        </p:nvPicPr>
        <p:blipFill>
          <a:blip r:embed="rId2"/>
          <a:stretch>
            <a:fillRect/>
          </a:stretch>
        </p:blipFill>
        <p:spPr>
          <a:xfrm>
            <a:off x="982385" y="2626519"/>
            <a:ext cx="272891" cy="218242"/>
          </a:xfrm>
          <a:prstGeom prst="rect">
            <a:avLst/>
          </a:prstGeom>
        </p:spPr>
      </p:pic>
      <p:sp>
        <p:nvSpPr>
          <p:cNvPr id="6" name="Text 2"/>
          <p:cNvSpPr/>
          <p:nvPr/>
        </p:nvSpPr>
        <p:spPr>
          <a:xfrm>
            <a:off x="1473518" y="2566035"/>
            <a:ext cx="6688098" cy="1047988"/>
          </a:xfrm>
          <a:prstGeom prst="rect">
            <a:avLst/>
          </a:prstGeom>
          <a:noFill/>
          <a:ln/>
        </p:spPr>
        <p:txBody>
          <a:bodyPr wrap="square" lIns="0" tIns="0" rIns="0" bIns="0" rtlCol="0" anchor="t"/>
          <a:lstStyle/>
          <a:p>
            <a:pPr algn="l" indent="0" marL="0">
              <a:lnSpc>
                <a:spcPts val="2750"/>
              </a:lnSpc>
              <a:buNone/>
            </a:pPr>
            <a:r>
              <a:rPr lang="en-US" sz="1700" b="1" dirty="0">
                <a:solidFill>
                  <a:srgbClr val="000000"/>
                </a:solidFill>
                <a:latin typeface="Inter" pitchFamily="34" charset="0"/>
                <a:ea typeface="Inter" pitchFamily="34" charset="-122"/>
                <a:cs typeface="Inter" pitchFamily="34" charset="-120"/>
              </a:rPr>
              <a:t>O'z istaklaringizni anglash</a:t>
            </a:r>
            <a:pPr algn="l" indent="0" marL="0">
              <a:lnSpc>
                <a:spcPts val="2750"/>
              </a:lnSpc>
              <a:buNone/>
            </a:pPr>
            <a:r>
              <a:rPr lang="en-US" sz="1700" dirty="0">
                <a:solidFill>
                  <a:srgbClr val="000000"/>
                </a:solidFill>
                <a:latin typeface="Inter" pitchFamily="34" charset="0"/>
                <a:ea typeface="Inter" pitchFamily="34" charset="-122"/>
                <a:cs typeface="Inter" pitchFamily="34" charset="-120"/>
              </a:rPr>
              <a:t> – bu doimiy, bir marta emas, balki lifetime jarayon. Har kuni o'zingizga sodiq qolish uchun kichik qadamlar qo'ying.</a:t>
            </a:r>
            <a:endParaRPr lang="en-US" sz="1700" dirty="0"/>
          </a:p>
        </p:txBody>
      </p:sp>
      <p:sp>
        <p:nvSpPr>
          <p:cNvPr id="7" name="Shape 3"/>
          <p:cNvSpPr/>
          <p:nvPr/>
        </p:nvSpPr>
        <p:spPr>
          <a:xfrm>
            <a:off x="764143" y="4165163"/>
            <a:ext cx="3698677" cy="1971794"/>
          </a:xfrm>
          <a:prstGeom prst="roundRect">
            <a:avLst>
              <a:gd name="adj" fmla="val 26575"/>
            </a:avLst>
          </a:prstGeom>
          <a:solidFill>
            <a:srgbClr val="DADBF1"/>
          </a:solidFill>
          <a:ln w="7620">
            <a:solidFill>
              <a:srgbClr val="C0C1D7"/>
            </a:solidFill>
            <a:prstDash val="solid"/>
          </a:ln>
        </p:spPr>
      </p:sp>
      <p:sp>
        <p:nvSpPr>
          <p:cNvPr id="8" name="Text 4"/>
          <p:cNvSpPr/>
          <p:nvPr/>
        </p:nvSpPr>
        <p:spPr>
          <a:xfrm>
            <a:off x="990005" y="4391025"/>
            <a:ext cx="2729151" cy="341114"/>
          </a:xfrm>
          <a:prstGeom prst="rect">
            <a:avLst/>
          </a:prstGeom>
          <a:noFill/>
          <a:ln/>
        </p:spPr>
        <p:txBody>
          <a:bodyPr wrap="none" lIns="0" tIns="0" rIns="0" bIns="0" rtlCol="0" anchor="t"/>
          <a:lstStyle/>
          <a:p>
            <a:pPr algn="l" indent="0" marL="0">
              <a:lnSpc>
                <a:spcPts val="2650"/>
              </a:lnSpc>
              <a:buNone/>
            </a:pPr>
            <a:r>
              <a:rPr lang="en-US" sz="2100" b="1" dirty="0">
                <a:solidFill>
                  <a:srgbClr val="272525"/>
                </a:solidFill>
                <a:latin typeface="Inter Bold" pitchFamily="34" charset="0"/>
                <a:ea typeface="Inter Bold" pitchFamily="34" charset="-122"/>
                <a:cs typeface="Inter Bold" pitchFamily="34" charset="-120"/>
              </a:rPr>
              <a:t>Bugun boshlang</a:t>
            </a:r>
            <a:endParaRPr lang="en-US" sz="2100" dirty="0"/>
          </a:p>
        </p:txBody>
      </p:sp>
      <p:sp>
        <p:nvSpPr>
          <p:cNvPr id="9" name="Text 5"/>
          <p:cNvSpPr/>
          <p:nvPr/>
        </p:nvSpPr>
        <p:spPr>
          <a:xfrm>
            <a:off x="990005" y="4863108"/>
            <a:ext cx="3246953" cy="698659"/>
          </a:xfrm>
          <a:prstGeom prst="rect">
            <a:avLst/>
          </a:prstGeom>
          <a:noFill/>
          <a:ln/>
        </p:spPr>
        <p:txBody>
          <a:bodyPr wrap="square" lIns="0" tIns="0" rIns="0" bIns="0" rtlCol="0" anchor="t"/>
          <a:lstStyle/>
          <a:p>
            <a:pPr algn="l" indent="0" marL="0">
              <a:lnSpc>
                <a:spcPts val="2750"/>
              </a:lnSpc>
              <a:buNone/>
            </a:pPr>
            <a:r>
              <a:rPr lang="en-US" sz="1700" dirty="0">
                <a:solidFill>
                  <a:srgbClr val="272525"/>
                </a:solidFill>
                <a:latin typeface="Inter" pitchFamily="34" charset="0"/>
                <a:ea typeface="Inter" pitchFamily="34" charset="-122"/>
                <a:cs typeface="Inter" pitchFamily="34" charset="-120"/>
              </a:rPr>
              <a:t>O'zingizga birta savol berish – bugun etadi</a:t>
            </a:r>
            <a:endParaRPr lang="en-US" sz="1700" dirty="0"/>
          </a:p>
        </p:txBody>
      </p:sp>
      <p:sp>
        <p:nvSpPr>
          <p:cNvPr id="10" name="Shape 6"/>
          <p:cNvSpPr/>
          <p:nvPr/>
        </p:nvSpPr>
        <p:spPr>
          <a:xfrm>
            <a:off x="4681061" y="4165163"/>
            <a:ext cx="3698796" cy="1971794"/>
          </a:xfrm>
          <a:prstGeom prst="roundRect">
            <a:avLst>
              <a:gd name="adj" fmla="val 26575"/>
            </a:avLst>
          </a:prstGeom>
          <a:solidFill>
            <a:srgbClr val="DADBF1"/>
          </a:solidFill>
          <a:ln w="7620">
            <a:solidFill>
              <a:srgbClr val="C0C1D7"/>
            </a:solidFill>
            <a:prstDash val="solid"/>
          </a:ln>
        </p:spPr>
      </p:sp>
      <p:sp>
        <p:nvSpPr>
          <p:cNvPr id="11" name="Text 7"/>
          <p:cNvSpPr/>
          <p:nvPr/>
        </p:nvSpPr>
        <p:spPr>
          <a:xfrm>
            <a:off x="4906923" y="4391025"/>
            <a:ext cx="2729151" cy="341114"/>
          </a:xfrm>
          <a:prstGeom prst="rect">
            <a:avLst/>
          </a:prstGeom>
          <a:noFill/>
          <a:ln/>
        </p:spPr>
        <p:txBody>
          <a:bodyPr wrap="none" lIns="0" tIns="0" rIns="0" bIns="0" rtlCol="0" anchor="t"/>
          <a:lstStyle/>
          <a:p>
            <a:pPr algn="l" indent="0" marL="0">
              <a:lnSpc>
                <a:spcPts val="2650"/>
              </a:lnSpc>
              <a:buNone/>
            </a:pPr>
            <a:r>
              <a:rPr lang="en-US" sz="2100" b="1" dirty="0">
                <a:solidFill>
                  <a:srgbClr val="272525"/>
                </a:solidFill>
                <a:latin typeface="Inter Bold" pitchFamily="34" charset="0"/>
                <a:ea typeface="Inter Bold" pitchFamily="34" charset="-122"/>
                <a:cs typeface="Inter Bold" pitchFamily="34" charset="-120"/>
              </a:rPr>
              <a:t>Kundalik amallar</a:t>
            </a:r>
            <a:endParaRPr lang="en-US" sz="2100" dirty="0"/>
          </a:p>
        </p:txBody>
      </p:sp>
      <p:sp>
        <p:nvSpPr>
          <p:cNvPr id="12" name="Text 8"/>
          <p:cNvSpPr/>
          <p:nvPr/>
        </p:nvSpPr>
        <p:spPr>
          <a:xfrm>
            <a:off x="4906923" y="4863108"/>
            <a:ext cx="3247073" cy="1047988"/>
          </a:xfrm>
          <a:prstGeom prst="rect">
            <a:avLst/>
          </a:prstGeom>
          <a:noFill/>
          <a:ln/>
        </p:spPr>
        <p:txBody>
          <a:bodyPr wrap="square" lIns="0" tIns="0" rIns="0" bIns="0" rtlCol="0" anchor="t"/>
          <a:lstStyle/>
          <a:p>
            <a:pPr algn="l" indent="0" marL="0">
              <a:lnSpc>
                <a:spcPts val="2750"/>
              </a:lnSpc>
              <a:buNone/>
            </a:pPr>
            <a:r>
              <a:rPr lang="en-US" sz="1700" dirty="0">
                <a:solidFill>
                  <a:srgbClr val="272525"/>
                </a:solidFill>
                <a:latin typeface="Inter" pitchFamily="34" charset="0"/>
                <a:ea typeface="Inter" pitchFamily="34" charset="-122"/>
                <a:cs typeface="Inter" pitchFamily="34" charset="-120"/>
              </a:rPr>
              <a:t>Yozuv, meditatsiya yoki tinch fikrlash uchun 10 minut ajratib qo'ying</a:t>
            </a:r>
            <a:endParaRPr lang="en-US" sz="1700" dirty="0"/>
          </a:p>
        </p:txBody>
      </p:sp>
      <p:sp>
        <p:nvSpPr>
          <p:cNvPr id="13" name="Shape 9"/>
          <p:cNvSpPr/>
          <p:nvPr/>
        </p:nvSpPr>
        <p:spPr>
          <a:xfrm>
            <a:off x="764143" y="6355199"/>
            <a:ext cx="7615714" cy="1273135"/>
          </a:xfrm>
          <a:prstGeom prst="roundRect">
            <a:avLst>
              <a:gd name="adj" fmla="val 41159"/>
            </a:avLst>
          </a:prstGeom>
          <a:solidFill>
            <a:srgbClr val="DADBF1"/>
          </a:solidFill>
          <a:ln w="7620">
            <a:solidFill>
              <a:srgbClr val="C0C1D7"/>
            </a:solidFill>
            <a:prstDash val="solid"/>
          </a:ln>
        </p:spPr>
      </p:sp>
      <p:sp>
        <p:nvSpPr>
          <p:cNvPr id="14" name="Text 10"/>
          <p:cNvSpPr/>
          <p:nvPr/>
        </p:nvSpPr>
        <p:spPr>
          <a:xfrm>
            <a:off x="990005" y="6581061"/>
            <a:ext cx="2729151" cy="341114"/>
          </a:xfrm>
          <a:prstGeom prst="rect">
            <a:avLst/>
          </a:prstGeom>
          <a:noFill/>
          <a:ln/>
        </p:spPr>
        <p:txBody>
          <a:bodyPr wrap="none" lIns="0" tIns="0" rIns="0" bIns="0" rtlCol="0" anchor="t"/>
          <a:lstStyle/>
          <a:p>
            <a:pPr algn="l" indent="0" marL="0">
              <a:lnSpc>
                <a:spcPts val="2650"/>
              </a:lnSpc>
              <a:buNone/>
            </a:pPr>
            <a:r>
              <a:rPr lang="en-US" sz="2100" b="1" dirty="0">
                <a:solidFill>
                  <a:srgbClr val="272525"/>
                </a:solidFill>
                <a:latin typeface="Inter Bold" pitchFamily="34" charset="0"/>
                <a:ea typeface="Inter Bold" pitchFamily="34" charset="-122"/>
                <a:cs typeface="Inter Bold" pitchFamily="34" charset="-120"/>
              </a:rPr>
              <a:t>Oxirgi qaror</a:t>
            </a:r>
            <a:endParaRPr lang="en-US" sz="2100" dirty="0"/>
          </a:p>
        </p:txBody>
      </p:sp>
      <p:sp>
        <p:nvSpPr>
          <p:cNvPr id="15" name="Text 11"/>
          <p:cNvSpPr/>
          <p:nvPr/>
        </p:nvSpPr>
        <p:spPr>
          <a:xfrm>
            <a:off x="990005" y="7053143"/>
            <a:ext cx="7163991" cy="349329"/>
          </a:xfrm>
          <a:prstGeom prst="rect">
            <a:avLst/>
          </a:prstGeom>
          <a:noFill/>
          <a:ln/>
        </p:spPr>
        <p:txBody>
          <a:bodyPr wrap="none" lIns="0" tIns="0" rIns="0" bIns="0" rtlCol="0" anchor="t"/>
          <a:lstStyle/>
          <a:p>
            <a:pPr algn="l" indent="0" marL="0">
              <a:lnSpc>
                <a:spcPts val="2750"/>
              </a:lnSpc>
              <a:buNone/>
            </a:pPr>
            <a:r>
              <a:rPr lang="en-US" sz="1700" dirty="0">
                <a:solidFill>
                  <a:srgbClr val="272525"/>
                </a:solidFill>
                <a:latin typeface="Inter" pitchFamily="34" charset="0"/>
                <a:ea typeface="Inter" pitchFamily="34" charset="-122"/>
                <a:cs typeface="Inter" pitchFamily="34" charset="-120"/>
              </a:rPr>
              <a:t>O'z istaklari asosida bitta qaror qabul qiling</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835235"/>
          </a:xfrm>
          <a:prstGeom prst="rect">
            <a:avLst/>
          </a:prstGeom>
        </p:spPr>
      </p:pic>
      <p:sp>
        <p:nvSpPr>
          <p:cNvPr id="3" name="Text 0"/>
          <p:cNvSpPr/>
          <p:nvPr/>
        </p:nvSpPr>
        <p:spPr>
          <a:xfrm>
            <a:off x="793790" y="3927753"/>
            <a:ext cx="13042821" cy="1417558"/>
          </a:xfrm>
          <a:prstGeom prst="rect">
            <a:avLst/>
          </a:prstGeom>
          <a:noFill/>
          <a:ln/>
        </p:spPr>
        <p:txBody>
          <a:bodyPr wrap="square" lIns="0" tIns="0" rIns="0" bIns="0" rtlCol="0" anchor="t"/>
          <a:lstStyle/>
          <a:p>
            <a:pPr algn="l"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Xulosa: O'z Istaklaringizni Anglash – Hayotingizni Boshqarish Kaliti</a:t>
            </a:r>
            <a:endParaRPr lang="en-US" sz="4450" dirty="0"/>
          </a:p>
        </p:txBody>
      </p:sp>
      <p:pic>
        <p:nvPicPr>
          <p:cNvPr id="4" name="Image 1" descr="preencoded.png">    </p:cNvPr>
          <p:cNvPicPr>
            <a:picLocks noChangeAspect="1"/>
          </p:cNvPicPr>
          <p:nvPr/>
        </p:nvPicPr>
        <p:blipFill>
          <a:blip r:embed="rId2"/>
          <a:stretch>
            <a:fillRect/>
          </a:stretch>
        </p:blipFill>
        <p:spPr>
          <a:xfrm>
            <a:off x="793790" y="5685473"/>
            <a:ext cx="4196358" cy="1451610"/>
          </a:xfrm>
          <a:prstGeom prst="rect">
            <a:avLst/>
          </a:prstGeom>
        </p:spPr>
      </p:pic>
      <p:sp>
        <p:nvSpPr>
          <p:cNvPr id="5" name="Text 1"/>
          <p:cNvSpPr/>
          <p:nvPr/>
        </p:nvSpPr>
        <p:spPr>
          <a:xfrm>
            <a:off x="1020604" y="5912287"/>
            <a:ext cx="3742730" cy="725805"/>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"Ichki ovozingizni tinglang – u haq seda"</a:t>
            </a:r>
            <a:endParaRPr lang="en-US" sz="1750" dirty="0"/>
          </a:p>
        </p:txBody>
      </p:sp>
      <p:pic>
        <p:nvPicPr>
          <p:cNvPr id="6" name="Image 2" descr="preencoded.png">    </p:cNvPr>
          <p:cNvPicPr>
            <a:picLocks noChangeAspect="1"/>
          </p:cNvPicPr>
          <p:nvPr/>
        </p:nvPicPr>
        <p:blipFill>
          <a:blip r:embed="rId3"/>
          <a:stretch>
            <a:fillRect/>
          </a:stretch>
        </p:blipFill>
        <p:spPr>
          <a:xfrm>
            <a:off x="5216962" y="5685473"/>
            <a:ext cx="4196358" cy="1451610"/>
          </a:xfrm>
          <a:prstGeom prst="rect">
            <a:avLst/>
          </a:prstGeom>
        </p:spPr>
      </p:pic>
      <p:sp>
        <p:nvSpPr>
          <p:cNvPr id="7" name="Text 2"/>
          <p:cNvSpPr/>
          <p:nvPr/>
        </p:nvSpPr>
        <p:spPr>
          <a:xfrm>
            <a:off x="5443776" y="5912287"/>
            <a:ext cx="3742730" cy="725805"/>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"Haqiqiy istaklarni toping va baxt topasiz"</a:t>
            </a:r>
            <a:endParaRPr lang="en-US" sz="1750" dirty="0"/>
          </a:p>
        </p:txBody>
      </p:sp>
      <p:pic>
        <p:nvPicPr>
          <p:cNvPr id="8" name="Image 3" descr="preencoded.png">    </p:cNvPr>
          <p:cNvPicPr>
            <a:picLocks noChangeAspect="1"/>
          </p:cNvPicPr>
          <p:nvPr/>
        </p:nvPicPr>
        <p:blipFill>
          <a:blip r:embed="rId4"/>
          <a:stretch>
            <a:fillRect/>
          </a:stretch>
        </p:blipFill>
        <p:spPr>
          <a:xfrm>
            <a:off x="9640133" y="5685473"/>
            <a:ext cx="4196358" cy="1451610"/>
          </a:xfrm>
          <a:prstGeom prst="rect">
            <a:avLst/>
          </a:prstGeom>
        </p:spPr>
      </p:pic>
      <p:sp>
        <p:nvSpPr>
          <p:cNvPr id="9" name="Text 3"/>
          <p:cNvSpPr/>
          <p:nvPr/>
        </p:nvSpPr>
        <p:spPr>
          <a:xfrm>
            <a:off x="9866948" y="5912287"/>
            <a:ext cx="3742730" cy="725805"/>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"Hayotingizni o'zingiz yaratishga jur'at eting!"</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2115979"/>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Qilgan odamlar:</a:t>
            </a:r>
            <a:endParaRPr lang="en-US" sz="4450" dirty="0"/>
          </a:p>
        </p:txBody>
      </p:sp>
      <p:sp>
        <p:nvSpPr>
          <p:cNvPr id="3" name="Text 1"/>
          <p:cNvSpPr/>
          <p:nvPr/>
        </p:nvSpPr>
        <p:spPr>
          <a:xfrm>
            <a:off x="793790" y="3278386"/>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1.Jaloliddinov Jamoliddin</a:t>
            </a:r>
            <a:endParaRPr lang="en-US" sz="1750" dirty="0"/>
          </a:p>
        </p:txBody>
      </p:sp>
      <p:sp>
        <p:nvSpPr>
          <p:cNvPr id="4" name="Text 2"/>
          <p:cNvSpPr/>
          <p:nvPr/>
        </p:nvSpPr>
        <p:spPr>
          <a:xfrm>
            <a:off x="793790" y="3896439"/>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2.Qo'ldoshov Jasurbek</a:t>
            </a:r>
            <a:endParaRPr lang="en-US" sz="1750" dirty="0"/>
          </a:p>
        </p:txBody>
      </p:sp>
      <p:sp>
        <p:nvSpPr>
          <p:cNvPr id="5" name="Text 3"/>
          <p:cNvSpPr/>
          <p:nvPr/>
        </p:nvSpPr>
        <p:spPr>
          <a:xfrm>
            <a:off x="793790" y="4514493"/>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3.Komoliddinov Abduqoddir</a:t>
            </a:r>
            <a:endParaRPr lang="en-US" sz="1750" dirty="0"/>
          </a:p>
        </p:txBody>
      </p:sp>
      <p:sp>
        <p:nvSpPr>
          <p:cNvPr id="6" name="Text 4"/>
          <p:cNvSpPr/>
          <p:nvPr/>
        </p:nvSpPr>
        <p:spPr>
          <a:xfrm>
            <a:off x="793790" y="5132546"/>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4.Risxiboyeva Movluda</a:t>
            </a:r>
            <a:endParaRPr lang="en-US" sz="1750" dirty="0"/>
          </a:p>
        </p:txBody>
      </p:sp>
      <p:sp>
        <p:nvSpPr>
          <p:cNvPr id="7" name="Text 5"/>
          <p:cNvSpPr/>
          <p:nvPr/>
        </p:nvSpPr>
        <p:spPr>
          <a:xfrm>
            <a:off x="793790" y="5750600"/>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5.Rahmatullayeva Mushtariy</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2025-10-23T02:26:53Z</dcterms:created>
  <dcterms:modified xsi:type="dcterms:W3CDTF">2025-10-23T02:26:53Z</dcterms:modified>
</cp:coreProperties>
</file>